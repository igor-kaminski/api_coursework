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Rail Reliability &amp; Delay Analytics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COMP3011 Web Services and Web Data — Coursework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Igor Kaminski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github.com/Igor-Kaminski/API_Coursework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Live: rail-api-coursework.onrender.com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A RESTful API for analysing UK rail service reliability and delays,</a:t>
            </a:r>
            <a:br/>
            <a:r>
              <a:t>powered by real operational data from the National Rail Darwin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84048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Read-Only Analytics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Route reliability &amp; average delay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Cancellation rates &amp; delay distributions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Station hotspots &amp; delay reasons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Top delayed / cancelled routes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011680"/>
            <a:ext cx="384048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CRUD Incidents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User-reported service disruptions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Role-based create / update / delete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Filtered by route, station, severity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Independent of imported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8BDF8"/>
                </a:solidFill>
              </a:defRPr>
            </a:pPr>
            <a:r>
              <a:t>Dataset: ~2,993 stations  •  ~2,899 routes  •  ~18,588 journey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651760" cy="12801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FastAPI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Modern async Python framework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Auto OpenAPI / Swagger docs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097280"/>
            <a:ext cx="2651760" cy="12801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PostgreSQL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Relational DB with FK constraints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Natural fit for the data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2651760" cy="12801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SQLAlchemy 2.0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Type-safe ORM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Maintainable query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2651760" cy="12801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Alembic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Schema migrations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Versioned &amp; reproducible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560320"/>
            <a:ext cx="2651760" cy="12801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Pydantic v2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Request/response validation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Explicit schemas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2651760" cy="12801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pytest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81% line coverage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Isolated DB fixtures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Modular monolith — simple to test, explain, and deploy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737360"/>
            <a:ext cx="6400800" cy="5486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400" b="1">
                <a:solidFill>
                  <a:srgbClr val="38BDF8"/>
                </a:solidFill>
              </a:rPr>
              <a:t>Routers   </a:t>
            </a:r>
            <a:r>
              <a:rPr sz="1300">
                <a:solidFill>
                  <a:srgbClr val="BBBBBB"/>
                </a:solidFill>
              </a:rPr>
              <a:t>stations • routes • incidents • analytics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20" y="2267712"/>
            <a:ext cx="365760" cy="164592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423160"/>
            <a:ext cx="6400800" cy="5486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400" b="1">
                <a:solidFill>
                  <a:srgbClr val="38BDF8"/>
                </a:solidFill>
              </a:rPr>
              <a:t>Schemas   </a:t>
            </a:r>
            <a:r>
              <a:rPr sz="1300">
                <a:solidFill>
                  <a:srgbClr val="BBBBBB"/>
                </a:solidFill>
              </a:rPr>
              <a:t>Pydantic request / response models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2953512"/>
            <a:ext cx="365760" cy="164592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3108960"/>
            <a:ext cx="6400800" cy="5486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400" b="1">
                <a:solidFill>
                  <a:srgbClr val="38BDF8"/>
                </a:solidFill>
              </a:rPr>
              <a:t>Services   </a:t>
            </a:r>
            <a:r>
              <a:rPr sz="1300">
                <a:solidFill>
                  <a:srgbClr val="BBBBBB"/>
                </a:solidFill>
              </a:rPr>
              <a:t>Analytics engine • Import pipelines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389120" y="3639312"/>
            <a:ext cx="365760" cy="164592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3794760"/>
            <a:ext cx="6400800" cy="5486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400" b="1">
                <a:solidFill>
                  <a:srgbClr val="38BDF8"/>
                </a:solidFill>
              </a:rPr>
              <a:t>Models   </a:t>
            </a:r>
            <a:r>
              <a:rPr sz="1300">
                <a:solidFill>
                  <a:srgbClr val="BBBBBB"/>
                </a:solidFill>
              </a:rPr>
              <a:t>SQLAlchemy ORM → 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</a:defRPr>
            </a:pPr>
            <a:r>
              <a:t>Also: MCP server over same DB &amp;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core/  config • database • security •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Data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25603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Station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name, code, CRS, TIPLOC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city, lat/lng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097280"/>
            <a:ext cx="25603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4ADE80"/>
                </a:solidFill>
              </a:defRPr>
            </a:pPr>
            <a:r>
              <a:t>Route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origin → destination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operator, distance_km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743200"/>
            <a:ext cx="25603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FBBF24"/>
                </a:solidFill>
              </a:defRPr>
            </a:pPr>
            <a:r>
              <a:t>JourneyRecord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scheduled vs actual times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status, delay_minutes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743200"/>
            <a:ext cx="25603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F87171"/>
                </a:solidFill>
              </a:defRPr>
            </a:pPr>
            <a:r>
              <a:t>Incident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title, description, type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severity,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972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Key design decisions:</a:t>
            </a:r>
            <a:br/>
            <a:br/>
            <a:r>
              <a:t>▸ Reference data kept separate</a:t>
            </a:r>
            <a:br/>
            <a:r>
              <a:t>   from operational history</a:t>
            </a:r>
            <a:br/>
            <a:br/>
            <a:r>
              <a:t>▸ Incidents are user-generated,</a:t>
            </a:r>
            <a:br/>
            <a:r>
              <a:t>   never auto-derived from delays</a:t>
            </a:r>
            <a:br/>
            <a:br/>
            <a:r>
              <a:t>▸ FK constraints enforce</a:t>
            </a:r>
            <a:br/>
            <a:r>
              <a:t>   referential integrity</a:t>
            </a:r>
            <a:br/>
            <a:br/>
            <a:r>
              <a:t>▸ CRS + TIPLOC codes for</a:t>
            </a:r>
            <a:br/>
            <a:r>
              <a:t>   real-world station lookup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Data Ingestion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BBBB"/>
                </a:solidFill>
              </a:defRPr>
            </a:pPr>
            <a:r>
              <a:t>External feeds are data sources, not runtime dependencies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840480" cy="11887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FBBF24"/>
                </a:solidFill>
              </a:defRPr>
            </a:pPr>
            <a:r>
              <a:t>Darwin (Push Port)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Real-time snapshot feed via FTP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Journey records with timing data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Main source for delay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737360"/>
            <a:ext cx="3840480" cy="11887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4ADE80"/>
                </a:solidFill>
              </a:defRPr>
            </a:pPr>
            <a:r>
              <a:t>KnowledgeBase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Station reference enrichment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CRS codes, cities, coordinates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Human-readable route names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Challenges solved during ingestion: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</a:rPr>
              <a:t>  ▸  </a:t>
            </a:r>
            <a:r>
              <a:rPr sz="1300">
                <a:solidFill>
                  <a:srgbClr val="FFFFFF"/>
                </a:solidFill>
              </a:rPr>
              <a:t>Code aliases &amp; incomplete metadata → merge + deduplication logic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</a:rPr>
              <a:t>  ▸  </a:t>
            </a:r>
            <a:r>
              <a:rPr sz="1300">
                <a:solidFill>
                  <a:srgbClr val="FFFFFF"/>
                </a:solidFill>
              </a:rPr>
              <a:t>Routes stored as internal codes → resolved to human-readable names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</a:rPr>
              <a:t>  ▸  </a:t>
            </a:r>
            <a:r>
              <a:rPr sz="1300">
                <a:solidFill>
                  <a:srgbClr val="FFFFFF"/>
                </a:solidFill>
              </a:rPr>
              <a:t>1,959 / 2,899 routes fully resolved; 120 remain unresolved (junctions/depots)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API &amp; Authentication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</a:defRPr>
            </a:pPr>
            <a:r>
              <a:t>Versioned under /api/v1  •  4 endpoint groups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4389120" cy="18288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Endpoint Groups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GET  /stations  (+ /code/{code})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GET  /routes  (+ /code/{code})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CRUD /incidents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GET  /analytics/routes/{id}/reliability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GET  /analytics/stations/hotspots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GET  /analytics/delay-reasons/common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... and 12 more analytics endpoints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645920"/>
            <a:ext cx="3474720" cy="18288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4ADE80"/>
                </a:solidFill>
              </a:defRPr>
            </a:pPr>
            <a:r>
              <a:t>Auth Model (X-API-Key)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admin   → full access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operator → manage incidents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user    → create incidents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no key  → public reads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Swagger Authorize button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Error codes per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Business identifiers: filter stations by code, name, city, CRS, TIPLOC — not just numeric IDs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Analytics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300" b="1">
                <a:solidFill>
                  <a:srgbClr val="38BDF8"/>
                </a:solidFill>
              </a:rPr>
              <a:t>Route Reliability  </a:t>
            </a:r>
            <a:r>
              <a:rPr sz="1200">
                <a:solidFill>
                  <a:srgbClr val="BBBBBB"/>
                </a:solidFill>
              </a:rPr>
              <a:t>on-time %, delayed %, cancelled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51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300" b="1">
                <a:solidFill>
                  <a:srgbClr val="38BDF8"/>
                </a:solidFill>
              </a:rPr>
              <a:t>Average Delay  </a:t>
            </a:r>
            <a:r>
              <a:rPr sz="1200">
                <a:solidFill>
                  <a:srgbClr val="BBBBBB"/>
                </a:solidFill>
              </a:rPr>
              <a:t>mean delay minutes per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300" b="1">
                <a:solidFill>
                  <a:srgbClr val="38BDF8"/>
                </a:solidFill>
              </a:rPr>
              <a:t>Cancellation Rate  </a:t>
            </a:r>
            <a:r>
              <a:rPr sz="1200">
                <a:solidFill>
                  <a:srgbClr val="BBBBBB"/>
                </a:solidFill>
              </a:rPr>
              <a:t>cancelled / total journeys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737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300" b="1">
                <a:solidFill>
                  <a:srgbClr val="38BDF8"/>
                </a:solidFill>
              </a:rPr>
              <a:t>Delay Distribution  </a:t>
            </a:r>
            <a:r>
              <a:rPr sz="1200">
                <a:solidFill>
                  <a:srgbClr val="BBBBBB"/>
                </a:solidFill>
              </a:rPr>
              <a:t>buckets: 0-5, 5-15, 15-30, 30+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300" b="1">
                <a:solidFill>
                  <a:srgbClr val="38BDF8"/>
                </a:solidFill>
              </a:rPr>
              <a:t>Station Hotspots  </a:t>
            </a:r>
            <a:r>
              <a:rPr sz="1200">
                <a:solidFill>
                  <a:srgbClr val="BBBBBB"/>
                </a:solidFill>
              </a:rPr>
              <a:t>most affected stations by delay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423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300" b="1">
                <a:solidFill>
                  <a:srgbClr val="38BDF8"/>
                </a:solidFill>
              </a:rPr>
              <a:t>Top Delayed Routes  </a:t>
            </a:r>
            <a:r>
              <a:rPr sz="1200">
                <a:solidFill>
                  <a:srgbClr val="BBBBBB"/>
                </a:solidFill>
              </a:rPr>
              <a:t>ranked by average delay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300" b="1">
                <a:solidFill>
                  <a:srgbClr val="38BDF8"/>
                </a:solidFill>
              </a:rPr>
              <a:t>Top Cancelled Routes  </a:t>
            </a:r>
            <a:r>
              <a:rPr sz="1200">
                <a:solidFill>
                  <a:srgbClr val="BBBBBB"/>
                </a:solidFill>
              </a:rPr>
              <a:t>ranked by cancellation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300" b="1">
                <a:solidFill>
                  <a:srgbClr val="38BDF8"/>
                </a:solidFill>
              </a:rPr>
              <a:t>Delay Reasons  </a:t>
            </a:r>
            <a:r>
              <a:rPr sz="1200">
                <a:solidFill>
                  <a:srgbClr val="BBBBBB"/>
                </a:solidFill>
              </a:rPr>
              <a:t>most common reasons (frequency)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300" b="1">
                <a:solidFill>
                  <a:srgbClr val="38BDF8"/>
                </a:solidFill>
              </a:rPr>
              <a:t>Incident Frequency  </a:t>
            </a:r>
            <a:r>
              <a:rPr sz="1200">
                <a:solidFill>
                  <a:srgbClr val="BBBBBB"/>
                </a:solidFill>
              </a:rPr>
              <a:t>incidents per date bucket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794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300" b="1">
                <a:solidFill>
                  <a:srgbClr val="38BDF8"/>
                </a:solidFill>
              </a:rPr>
              <a:t>Severity Breakdown  </a:t>
            </a:r>
            <a:r>
              <a:rPr sz="1200">
                <a:solidFill>
                  <a:srgbClr val="BBBBBB"/>
                </a:solidFill>
              </a:rPr>
              <a:t>low / medium / high / 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Design principle: analytics match the quality and timespan of available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Error Handling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4023360" cy="20116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Standardised Errors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Shared ErrorResponse model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401  Unauthorized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403  Forbidden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404  Not Found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409  Conflict (FK violations)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422  Validation Error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500 / 503  Server errors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097280"/>
            <a:ext cx="3931920" cy="20116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4ADE80"/>
                </a:solidFill>
              </a:defRPr>
            </a:pPr>
            <a:r>
              <a:t>Security Measures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API key authentication (3 roles)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Rate limiting (slowapi, 100/min)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CORS middleware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DB health checks at startup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Structured exception handlers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Conflict checks before delete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Intentionally proportionate for coursework scope —</a:t>
            </a:r>
            <a:br/>
            <a:r>
              <a:t>not a production security system, but not absent either.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Testing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402336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Testing (pytest)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81% line coverage (pytest-cov)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Isolated DB fixtures per test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Covers: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  Incident API permissions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  Station &amp; route lookups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  Analytics endpoints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  Import services &amp; Darwin parsing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  MCP tools &amp;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097280"/>
            <a:ext cx="39319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4ADE80"/>
                </a:solidFill>
              </a:defRPr>
            </a:pPr>
            <a:r>
              <a:t>Deployment (Render)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render.yaml blueprint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Web service + managed PostgreSQL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Auto-generated API keys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Alembic runs before startup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Live at: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rail-api-coursework.onrender.com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Schema + data are separate concerns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Version Control &amp;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4023360" cy="14630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Git &amp; GitHub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Granular commit history on main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Feature-by-feature progression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Public repo with full visibility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README with setup for Linux,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  macOS, and Windows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097280"/>
            <a:ext cx="3931920" cy="14630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4ADE80"/>
                </a:solidFill>
              </a:defRPr>
            </a:pPr>
            <a:r>
              <a:t>Deliverables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Technical report (5-page PDF)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API documentation (Swagger PDF)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Presentation slides (this file)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GenAI conversation logs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  (ChatGPT + Cursor exports)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26080"/>
            <a:ext cx="8229600" cy="10972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FBBF24"/>
                </a:solidFill>
              </a:defRPr>
            </a:pPr>
            <a:r>
              <a:t>MCP Extension (Advanced)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Same database &amp; business logic exposed via Model Context Protocol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stdio, SSE, and streamable-http transports  •  role-based tool access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Demonstrates the system through a second interface beyond HTTP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Reflection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4023360" cy="14630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FBBF24"/>
                </a:solidFill>
              </a:defRPr>
            </a:pPr>
            <a:r>
              <a:t>Challenges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Sourcing a suitable dataset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Cleaning messy real-world data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Route name resolution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Scoping the project appropriately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097280"/>
            <a:ext cx="3931920" cy="14630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F87171"/>
                </a:solidFill>
              </a:defRPr>
            </a:pPr>
            <a:r>
              <a:t>Limitations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Short time window (~days, not months)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Basic authentication model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No long-term trend analysis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Security not production-grade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26080"/>
            <a:ext cx="8229600" cy="10972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600"/>
              </a:spcAft>
              <a:defRPr sz="1500" b="1">
                <a:solidFill>
                  <a:srgbClr val="4ADE80"/>
                </a:solidFill>
              </a:defRPr>
            </a:pPr>
            <a:r>
              <a:t>Future Improvements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Sample Darwin data over a wider date range for temporal trends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Proper OAuth2 / JWT authentication for public deployment</a:t>
            </a:r>
          </a:p>
          <a:p>
            <a:pPr>
              <a:spcBef>
                <a:spcPts val="200"/>
              </a:spcBef>
              <a:defRPr sz="1200">
                <a:solidFill>
                  <a:srgbClr val="BBBBBB"/>
                </a:solidFill>
              </a:defRPr>
            </a:pPr>
            <a:r>
              <a:t>Frontend dashboard for visual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8BDF8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GitHub:  github.com/Igor-Kaminski/API_Coursework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3756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Live API:  rail-api-coursework.onrender.com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Swagger:  rail-api-coursework.onrender.com/docs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